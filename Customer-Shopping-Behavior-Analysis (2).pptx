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arcellus" panose="020B0604020202020204" charset="0"/>
      <p:regular r:id="rId13"/>
    </p:embeddedFont>
    <p:embeddedFont>
      <p:font typeface="Montserrat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197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54737"/>
            <a:ext cx="7556421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650"/>
              </a:lnSpc>
            </a:pPr>
            <a:r>
              <a:rPr lang="en-US" sz="5400" dirty="0">
                <a:solidFill>
                  <a:schemeClr val="accent2">
                    <a:lumMod val="75000"/>
                  </a:schemeClr>
                </a:solidFill>
              </a:rPr>
              <a:t>Data-Driven Consumer Insights Platform</a:t>
            </a:r>
            <a:endParaRPr lang="en-US" sz="5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690348"/>
            <a:ext cx="7556421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Uncovering patterns in spending, preferences, and engagement across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3,900 transactions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improve marketing strategies and customer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9131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Overview</a:t>
            </a:r>
            <a:endParaRPr lang="en-US" sz="5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12169"/>
            <a:ext cx="8284131" cy="46942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061597"/>
            <a:ext cx="828413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2776776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Business Objective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9638943" y="3427452"/>
            <a:ext cx="4205168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Leverage consumer shopping data to identify trends, improve customer engagement, and optimize marketing strategies.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638943" y="4833461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Dataset Scope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9638943" y="5484138"/>
            <a:ext cx="4205168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3,900 rows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×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columns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covering customer demographics, purchase details, discounts, reviews, and purchase frequency.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0685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Preparation</a:t>
            </a:r>
            <a:endParaRPr lang="en-US" sz="5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852" y="2022038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1188" y="3181024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5525849"/>
            <a:ext cx="1904228" cy="4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Validate</a:t>
            </a:r>
            <a:endParaRPr lang="en-US" sz="26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3771" y="3182246"/>
            <a:ext cx="652132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329" y="5525849"/>
            <a:ext cx="1904228" cy="4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Engineer</a:t>
            </a:r>
            <a:endParaRPr lang="en-US" sz="26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6964" y="3182246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5525849"/>
            <a:ext cx="1904228" cy="4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Transform</a:t>
            </a:r>
            <a:endParaRPr lang="en-US" sz="26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17115" y="3182246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6" y="5525849"/>
            <a:ext cx="1904228" cy="4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Clean</a:t>
            </a:r>
            <a:endParaRPr lang="en-US" sz="2650" dirty="0"/>
          </a:p>
        </p:txBody>
      </p:sp>
      <p:sp>
        <p:nvSpPr>
          <p:cNvPr id="12" name="Text 5"/>
          <p:cNvSpPr/>
          <p:nvPr/>
        </p:nvSpPr>
        <p:spPr>
          <a:xfrm>
            <a:off x="793790" y="6919198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Systematic cleaning and feature engineering ensured a reliable, analysis-ready dataset with consistent structure and no redundant fields.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34691"/>
            <a:ext cx="7556421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by Gender &amp; Discounts</a:t>
            </a:r>
            <a:endParaRPr lang="en-US" sz="5100" dirty="0"/>
          </a:p>
        </p:txBody>
      </p:sp>
      <p:sp>
        <p:nvSpPr>
          <p:cNvPr id="4" name="Shape 1"/>
          <p:cNvSpPr/>
          <p:nvPr/>
        </p:nvSpPr>
        <p:spPr>
          <a:xfrm>
            <a:off x="793790" y="3370302"/>
            <a:ext cx="3664744" cy="1943695"/>
          </a:xfrm>
          <a:prstGeom prst="roundRect">
            <a:avLst>
              <a:gd name="adj" fmla="val 4901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3464" y="3619976"/>
            <a:ext cx="316539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Male Customers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043464" y="4179927"/>
            <a:ext cx="3165396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total revenue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compared to female customers.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3370302"/>
            <a:ext cx="3664863" cy="1943695"/>
          </a:xfrm>
          <a:prstGeom prst="roundRect">
            <a:avLst>
              <a:gd name="adj" fmla="val 4901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5022" y="3619976"/>
            <a:ext cx="316551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Discount Users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4935022" y="4179927"/>
            <a:ext cx="316551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using discounts often spend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above average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540812"/>
            <a:ext cx="7556421" cy="1354098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3464" y="5790486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Top Rated Products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1043464" y="6350437"/>
            <a:ext cx="705707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Gloves, Sandals, and Boots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lead in customer review ratings.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8567"/>
            <a:ext cx="8828365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Shipping &amp; Spending Behavior</a:t>
            </a:r>
            <a:endParaRPr lang="en-US" sz="5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61605"/>
            <a:ext cx="8284131" cy="46942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550081"/>
            <a:ext cx="4205168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Express Shipping = Higher Spend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9638943" y="3624620"/>
            <a:ext cx="4205168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who choose express shipping consistently spend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per transaction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than those using standard or free shipping options.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9638943" y="5058966"/>
            <a:ext cx="4205168" cy="1780103"/>
          </a:xfrm>
          <a:prstGeom prst="roundRect">
            <a:avLst>
              <a:gd name="adj" fmla="val 5352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5757" y="5372576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76059" y="5342453"/>
            <a:ext cx="3241238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Enhancing the express shipping experience could be a key lever for increasing average order value.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29603"/>
            <a:ext cx="9930051" cy="768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Subscriber vs. Non-Subscriber Insights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2694742" y="3106460"/>
            <a:ext cx="2528292" cy="513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29.23%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326" y="1821775"/>
            <a:ext cx="3083362" cy="30833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81620" y="5142667"/>
            <a:ext cx="2954893" cy="384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Subscribers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19376" y="5638443"/>
            <a:ext cx="6479381" cy="50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Similar spending per order, but lower total revenue contribution.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407009" y="3106460"/>
            <a:ext cx="2528292" cy="513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70.77%</a:t>
            </a:r>
            <a:endParaRPr lang="en-US" sz="4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9593" y="1821775"/>
            <a:ext cx="3083362" cy="30833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93768" y="5142667"/>
            <a:ext cx="2954893" cy="384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Non-Subscribers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7431524" y="5638443"/>
            <a:ext cx="6479500" cy="25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Majority of customers — represent the largest revenue share.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19376" y="6427113"/>
            <a:ext cx="2954893" cy="384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Retention is Strong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719376" y="7090529"/>
            <a:ext cx="13191649" cy="50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customers are classified as </a:t>
            </a:r>
            <a:r>
              <a:rPr lang="en-US" sz="16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</a:t>
            </a: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indicating strong retention across the base. Subscription conversion remains a key growth opportunity.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499348"/>
            <a:ext cx="5458063" cy="675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by Age Group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552813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552813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497818"/>
            <a:ext cx="2598301" cy="337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Young Adults Lead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43205" y="3979426"/>
            <a:ext cx="6015395" cy="632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Young adults</a:t>
            </a: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contribute the highest revenue of any age segment, making them the most valuable demographic for targeted marketing campaigns.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543205" y="4774287"/>
            <a:ext cx="6015395" cy="830937"/>
          </a:xfrm>
          <a:prstGeom prst="roundRect">
            <a:avLst>
              <a:gd name="adj" fmla="val 9136"/>
            </a:avLst>
          </a:prstGeom>
          <a:solidFill>
            <a:srgbClr val="B6FCB8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942" y="5009555"/>
            <a:ext cx="225862" cy="1807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30540" y="4963358"/>
            <a:ext cx="5247323" cy="42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Prioritize young adult-focused campaigns to maximize revenue impact.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24978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Power BI Dashboard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793790" y="3026212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$59.89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981670" y="4058007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Avg. Purchase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4713684" y="3026212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650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4901565" y="4058007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Customers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2753678" y="5048845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3.71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2941558" y="6080641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Avg. Rating</a:t>
            </a:r>
            <a:endParaRPr lang="en-US" sz="2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6718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Dashboard Features</a:t>
            </a:r>
            <a:endParaRPr lang="en-US" sz="5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61807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468535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Interactive Filters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793790" y="5028486"/>
            <a:ext cx="415861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Slice data by gender, category, subscription status, and shipping type.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61807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468535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Visuals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5235893" y="5028486"/>
            <a:ext cx="415861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 charts for revenue and sales by category and age group.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61807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468535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Subscription Split</a:t>
            </a:r>
            <a:endParaRPr lang="en-US" sz="2550" dirty="0"/>
          </a:p>
        </p:txBody>
      </p:sp>
      <p:sp>
        <p:nvSpPr>
          <p:cNvPr id="11" name="Text 6"/>
          <p:cNvSpPr/>
          <p:nvPr/>
        </p:nvSpPr>
        <p:spPr>
          <a:xfrm>
            <a:off x="9677995" y="5028486"/>
            <a:ext cx="415861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Donut chart showing 29.23% subscribers vs. 70.77% non-subscribers.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36057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Recommendations</a:t>
            </a:r>
            <a:endParaRPr lang="en-US" sz="5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200" y="2037993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17306" y="2023943"/>
            <a:ext cx="5852041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Target Young Adults &amp; Loyal Customers</a:t>
            </a:r>
            <a:endParaRPr lang="en-US" sz="2550" dirty="0"/>
          </a:p>
        </p:txBody>
      </p:sp>
      <p:sp>
        <p:nvSpPr>
          <p:cNvPr id="6" name="Text 2"/>
          <p:cNvSpPr/>
          <p:nvPr/>
        </p:nvSpPr>
        <p:spPr>
          <a:xfrm>
            <a:off x="7017306" y="2583894"/>
            <a:ext cx="681930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marketing efforts on the highest-revenue segment.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200" y="3346371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17306" y="3332321"/>
            <a:ext cx="4256603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Optimize Discount Strategies</a:t>
            </a:r>
            <a:endParaRPr lang="en-US" sz="2550" dirty="0"/>
          </a:p>
        </p:txBody>
      </p:sp>
      <p:sp>
        <p:nvSpPr>
          <p:cNvPr id="9" name="Text 4"/>
          <p:cNvSpPr/>
          <p:nvPr/>
        </p:nvSpPr>
        <p:spPr>
          <a:xfrm>
            <a:off x="7017306" y="3892272"/>
            <a:ext cx="681930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Refine offers around top-rated, high-performing products.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200" y="4654748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17306" y="4640699"/>
            <a:ext cx="443281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Boost Subscription Conversion</a:t>
            </a:r>
            <a:endParaRPr lang="en-US" sz="2550" dirty="0"/>
          </a:p>
        </p:txBody>
      </p:sp>
      <p:sp>
        <p:nvSpPr>
          <p:cNvPr id="12" name="Text 6"/>
          <p:cNvSpPr/>
          <p:nvPr/>
        </p:nvSpPr>
        <p:spPr>
          <a:xfrm>
            <a:off x="7017306" y="5200650"/>
            <a:ext cx="681930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 the 70.77% non-subscriber base with targeted incentives.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200" y="6257925"/>
            <a:ext cx="340162" cy="3401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017306" y="6243876"/>
            <a:ext cx="3723561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Enhance Express Shipping</a:t>
            </a:r>
            <a:endParaRPr lang="en-US" sz="2550" dirty="0"/>
          </a:p>
        </p:txBody>
      </p:sp>
      <p:sp>
        <p:nvSpPr>
          <p:cNvPr id="15" name="Text 8"/>
          <p:cNvSpPr/>
          <p:nvPr/>
        </p:nvSpPr>
        <p:spPr>
          <a:xfrm>
            <a:off x="7017306" y="6803827"/>
            <a:ext cx="681930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 in the express experience to drive higher average order values.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397</Words>
  <Application>Microsoft Office PowerPoint</Application>
  <PresentationFormat>Custom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Marcellus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ABHINANDAN TIWARI</dc:creator>
  <cp:lastModifiedBy>ABHINANDAN TIWARI</cp:lastModifiedBy>
  <cp:revision>2</cp:revision>
  <dcterms:created xsi:type="dcterms:W3CDTF">2026-04-23T21:59:33Z</dcterms:created>
  <dcterms:modified xsi:type="dcterms:W3CDTF">2026-04-24T06:00:21Z</dcterms:modified>
</cp:coreProperties>
</file>